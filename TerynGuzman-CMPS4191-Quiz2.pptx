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Light" charset="1" panose="00000400000000000000"/>
      <p:regular r:id="rId18"/>
    </p:embeddedFont>
    <p:embeddedFont>
      <p:font typeface="Computer Says No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6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2" Target="../media/image5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7.png" Type="http://schemas.openxmlformats.org/officeDocument/2006/relationships/image"/><Relationship Id="rId8" Target="../media/image12.png" Type="http://schemas.openxmlformats.org/officeDocument/2006/relationships/image"/><Relationship Id="rId9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76678" y="617220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68070" y="-2818506"/>
            <a:ext cx="4825046" cy="4219769"/>
          </a:xfrm>
          <a:custGeom>
            <a:avLst/>
            <a:gdLst/>
            <a:ahLst/>
            <a:cxnLst/>
            <a:rect r="r" b="b" t="t" l="l"/>
            <a:pathLst>
              <a:path h="4219769" w="4825046">
                <a:moveTo>
                  <a:pt x="0" y="0"/>
                </a:moveTo>
                <a:lnTo>
                  <a:pt x="4825046" y="0"/>
                </a:lnTo>
                <a:lnTo>
                  <a:pt x="4825046" y="4219769"/>
                </a:lnTo>
                <a:lnTo>
                  <a:pt x="0" y="421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61481" y="-411480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50925" y="6497858"/>
            <a:ext cx="6926813" cy="48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2714">
                <a:solidFill>
                  <a:srgbClr val="6866E1"/>
                </a:solidFill>
                <a:latin typeface="Poppins Light"/>
                <a:ea typeface="Poppins Light"/>
                <a:cs typeface="Poppins Light"/>
                <a:sym typeface="Poppins Light"/>
              </a:rPr>
              <a:t>By Teryn Guzman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91635" y="1333816"/>
            <a:ext cx="3948234" cy="1724379"/>
          </a:xfrm>
          <a:custGeom>
            <a:avLst/>
            <a:gdLst/>
            <a:ahLst/>
            <a:cxnLst/>
            <a:rect r="r" b="b" t="t" l="l"/>
            <a:pathLst>
              <a:path h="1724379" w="3948234">
                <a:moveTo>
                  <a:pt x="0" y="0"/>
                </a:moveTo>
                <a:lnTo>
                  <a:pt x="3948234" y="0"/>
                </a:lnTo>
                <a:lnTo>
                  <a:pt x="3948234" y="1724379"/>
                </a:lnTo>
                <a:lnTo>
                  <a:pt x="0" y="1724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01689" y="8426785"/>
            <a:ext cx="4729467" cy="4047169"/>
          </a:xfrm>
          <a:custGeom>
            <a:avLst/>
            <a:gdLst/>
            <a:ahLst/>
            <a:cxnLst/>
            <a:rect r="r" b="b" t="t" l="l"/>
            <a:pathLst>
              <a:path h="4047169" w="4729467">
                <a:moveTo>
                  <a:pt x="0" y="0"/>
                </a:moveTo>
                <a:lnTo>
                  <a:pt x="4729467" y="0"/>
                </a:lnTo>
                <a:lnTo>
                  <a:pt x="4729467" y="4047170"/>
                </a:lnTo>
                <a:lnTo>
                  <a:pt x="0" y="4047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19477" y="3505870"/>
            <a:ext cx="7989710" cy="199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6"/>
              </a:lnSpc>
            </a:pPr>
            <a:r>
              <a:rPr lang="en-US" sz="10050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ASYNCHRONOUS JOB + WORKER + HTTP 202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9331156" y="1563451"/>
            <a:ext cx="7573219" cy="8296504"/>
          </a:xfrm>
          <a:custGeom>
            <a:avLst/>
            <a:gdLst/>
            <a:ahLst/>
            <a:cxnLst/>
            <a:rect r="r" b="b" t="t" l="l"/>
            <a:pathLst>
              <a:path h="8296504" w="7573219">
                <a:moveTo>
                  <a:pt x="7573219" y="0"/>
                </a:moveTo>
                <a:lnTo>
                  <a:pt x="0" y="0"/>
                </a:lnTo>
                <a:lnTo>
                  <a:pt x="0" y="8296504"/>
                </a:lnTo>
                <a:lnTo>
                  <a:pt x="7573219" y="8296504"/>
                </a:lnTo>
                <a:lnTo>
                  <a:pt x="7573219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A8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5862" y="719138"/>
            <a:ext cx="14143437" cy="106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THE PROBLEM AND REQUIREMENT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5862" y="1901484"/>
            <a:ext cx="13339786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WHY NOT DO REPORT GENERATION INLINE?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Synchronous processing makes the client wait.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Longer reports increase acknowledgement latency.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Long requests can risk HTTP timeouts.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Asynchronous processing accepts the work first.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Request lifetime and work lifetime are separated.</a:t>
            </a:r>
          </a:p>
        </p:txBody>
      </p:sp>
      <p:sp>
        <p:nvSpPr>
          <p:cNvPr name="Freeform 4" id="4" descr="Code image preview"/>
          <p:cNvSpPr/>
          <p:nvPr/>
        </p:nvSpPr>
        <p:spPr>
          <a:xfrm flipH="false" flipV="false" rot="0">
            <a:off x="4861089" y="7605031"/>
            <a:ext cx="8565822" cy="2667963"/>
          </a:xfrm>
          <a:custGeom>
            <a:avLst/>
            <a:gdLst/>
            <a:ahLst/>
            <a:cxnLst/>
            <a:rect r="r" b="b" t="t" l="l"/>
            <a:pathLst>
              <a:path h="2667963" w="8565822">
                <a:moveTo>
                  <a:pt x="0" y="0"/>
                </a:moveTo>
                <a:lnTo>
                  <a:pt x="8565822" y="0"/>
                </a:lnTo>
                <a:lnTo>
                  <a:pt x="8565822" y="2667963"/>
                </a:lnTo>
                <a:lnTo>
                  <a:pt x="0" y="2667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3" t="-114611" r="-3588" b="-12433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0959" y="6823982"/>
            <a:ext cx="1436608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POST RETURNS QUICKLY --&gt; WORKER PROCESSES THE REPORT IN THE BACKGROUND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35996" y="-2163135"/>
            <a:ext cx="6613789" cy="5640759"/>
          </a:xfrm>
          <a:custGeom>
            <a:avLst/>
            <a:gdLst/>
            <a:ahLst/>
            <a:cxnLst/>
            <a:rect r="r" b="b" t="t" l="l"/>
            <a:pathLst>
              <a:path h="5640759" w="6613789">
                <a:moveTo>
                  <a:pt x="0" y="0"/>
                </a:moveTo>
                <a:lnTo>
                  <a:pt x="6613790" y="0"/>
                </a:lnTo>
                <a:lnTo>
                  <a:pt x="6613790" y="5640759"/>
                </a:lnTo>
                <a:lnTo>
                  <a:pt x="0" y="564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19138"/>
            <a:ext cx="8512282" cy="106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HTTP CONTRACT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2547"/>
            <a:ext cx="9419065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POST RETURNS 202 ACCEPTED, NOT A FINISHED REPORT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Client sends consumer_id, from, and to.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Server validates the request.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 job is created with status queued.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Server immediately returns 202 Accepted.</a:t>
            </a:r>
          </a:p>
          <a:p>
            <a:pPr algn="l" marL="971553" indent="-485777" lvl="1">
              <a:lnSpc>
                <a:spcPts val="63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Response provides job_id and status_url.</a:t>
            </a:r>
          </a:p>
        </p:txBody>
      </p:sp>
      <p:sp>
        <p:nvSpPr>
          <p:cNvPr name="Freeform 5" id="5" descr="Code image preview"/>
          <p:cNvSpPr/>
          <p:nvPr/>
        </p:nvSpPr>
        <p:spPr>
          <a:xfrm flipH="false" flipV="false" rot="0">
            <a:off x="4900114" y="7618496"/>
            <a:ext cx="8367336" cy="2446584"/>
          </a:xfrm>
          <a:custGeom>
            <a:avLst/>
            <a:gdLst/>
            <a:ahLst/>
            <a:cxnLst/>
            <a:rect r="r" b="b" t="t" l="l"/>
            <a:pathLst>
              <a:path h="2446584" w="8367336">
                <a:moveTo>
                  <a:pt x="0" y="0"/>
                </a:moveTo>
                <a:lnTo>
                  <a:pt x="8367336" y="0"/>
                </a:lnTo>
                <a:lnTo>
                  <a:pt x="8367336" y="2446584"/>
                </a:lnTo>
                <a:lnTo>
                  <a:pt x="0" y="244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08" t="-120183" r="-4016" b="-14241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8818" y="6846971"/>
            <a:ext cx="1147036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202 ACCEPTED = WORK ACCEPTED FOR LATER PROCESSING</a:t>
            </a:r>
          </a:p>
        </p:txBody>
      </p:sp>
      <p:sp>
        <p:nvSpPr>
          <p:cNvPr name="Freeform 7" id="7" descr="Code image preview"/>
          <p:cNvSpPr/>
          <p:nvPr/>
        </p:nvSpPr>
        <p:spPr>
          <a:xfrm flipH="false" flipV="false" rot="0">
            <a:off x="10610210" y="3216696"/>
            <a:ext cx="5314480" cy="2881893"/>
          </a:xfrm>
          <a:custGeom>
            <a:avLst/>
            <a:gdLst/>
            <a:ahLst/>
            <a:cxnLst/>
            <a:rect r="r" b="b" t="t" l="l"/>
            <a:pathLst>
              <a:path h="2881893" w="5314480">
                <a:moveTo>
                  <a:pt x="0" y="0"/>
                </a:moveTo>
                <a:lnTo>
                  <a:pt x="5314481" y="0"/>
                </a:lnTo>
                <a:lnTo>
                  <a:pt x="5314481" y="2881893"/>
                </a:lnTo>
                <a:lnTo>
                  <a:pt x="0" y="2881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16" t="-52823" r="-4778" b="-4909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398178" y="2445171"/>
            <a:ext cx="373854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EXAMPLE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1056" y="1028700"/>
            <a:ext cx="11095216" cy="7994456"/>
          </a:xfrm>
          <a:custGeom>
            <a:avLst/>
            <a:gdLst/>
            <a:ahLst/>
            <a:cxnLst/>
            <a:rect r="r" b="b" t="t" l="l"/>
            <a:pathLst>
              <a:path h="7994456" w="11095216">
                <a:moveTo>
                  <a:pt x="0" y="0"/>
                </a:moveTo>
                <a:lnTo>
                  <a:pt x="11095216" y="0"/>
                </a:lnTo>
                <a:lnTo>
                  <a:pt x="11095216" y="7994456"/>
                </a:lnTo>
                <a:lnTo>
                  <a:pt x="0" y="7994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422" r="-1528" b="-16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7532" y="60367"/>
            <a:ext cx="10723940" cy="172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4"/>
              </a:lnSpc>
              <a:spcBef>
                <a:spcPct val="0"/>
              </a:spcBef>
            </a:pPr>
            <a:r>
              <a:rPr lang="en-US" sz="1000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0664" y="2714625"/>
            <a:ext cx="8616704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RESPONSIBILITIES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Request Handler → accepts the work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PostgreSQL → stores job state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Worker → executes the job</a:t>
            </a:r>
          </a:p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GET Handler → observes job state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B60EB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40066" y="-360334"/>
            <a:ext cx="4817598" cy="4184142"/>
          </a:xfrm>
          <a:custGeom>
            <a:avLst/>
            <a:gdLst/>
            <a:ahLst/>
            <a:cxnLst/>
            <a:rect r="r" b="b" t="t" l="l"/>
            <a:pathLst>
              <a:path h="4184142" w="4817598">
                <a:moveTo>
                  <a:pt x="0" y="0"/>
                </a:moveTo>
                <a:lnTo>
                  <a:pt x="4817598" y="0"/>
                </a:lnTo>
                <a:lnTo>
                  <a:pt x="4817598" y="4184143"/>
                </a:lnTo>
                <a:lnTo>
                  <a:pt x="0" y="4184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01849" y="7100342"/>
            <a:ext cx="11495135" cy="4845199"/>
          </a:xfrm>
          <a:custGeom>
            <a:avLst/>
            <a:gdLst/>
            <a:ahLst/>
            <a:cxnLst/>
            <a:rect r="r" b="b" t="t" l="l"/>
            <a:pathLst>
              <a:path h="4845199" w="11495135">
                <a:moveTo>
                  <a:pt x="0" y="0"/>
                </a:moveTo>
                <a:lnTo>
                  <a:pt x="11495135" y="0"/>
                </a:lnTo>
                <a:lnTo>
                  <a:pt x="11495135" y="4845199"/>
                </a:lnTo>
                <a:lnTo>
                  <a:pt x="0" y="484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4935" y="2803839"/>
            <a:ext cx="8306128" cy="5999956"/>
          </a:xfrm>
          <a:custGeom>
            <a:avLst/>
            <a:gdLst/>
            <a:ahLst/>
            <a:cxnLst/>
            <a:rect r="r" b="b" t="t" l="l"/>
            <a:pathLst>
              <a:path h="5999956" w="8306128">
                <a:moveTo>
                  <a:pt x="0" y="0"/>
                </a:moveTo>
                <a:lnTo>
                  <a:pt x="8306128" y="0"/>
                </a:lnTo>
                <a:lnTo>
                  <a:pt x="8306128" y="5999956"/>
                </a:lnTo>
                <a:lnTo>
                  <a:pt x="0" y="5999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846199" y="2032314"/>
            <a:ext cx="544359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JOB STATE TRANSITIONS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-209550"/>
            <a:ext cx="11030572" cy="172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4"/>
              </a:lnSpc>
              <a:spcBef>
                <a:spcPct val="0"/>
              </a:spcBef>
            </a:pPr>
            <a:r>
              <a:rPr lang="en-US" sz="1000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JOB STATE TRANSITIONS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091" y="1431842"/>
            <a:ext cx="10928911" cy="797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STATES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Queued --&gt; waiting to be claimed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Processing --&gt; worker has claimed the job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Completed --&gt; report generated successfully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Failed --&gt; report or serialization error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FUNCTIONS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Insert --&gt; queued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 ClaimNext --&gt; processing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 MarkCompleted --&gt; completed</a:t>
            </a:r>
          </a:p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 MarkFailed --&gt; failed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15548" y="8986029"/>
            <a:ext cx="6173053" cy="2601942"/>
          </a:xfrm>
          <a:custGeom>
            <a:avLst/>
            <a:gdLst/>
            <a:ahLst/>
            <a:cxnLst/>
            <a:rect r="r" b="b" t="t" l="l"/>
            <a:pathLst>
              <a:path h="2601942" w="6173053">
                <a:moveTo>
                  <a:pt x="0" y="0"/>
                </a:moveTo>
                <a:lnTo>
                  <a:pt x="6173052" y="0"/>
                </a:lnTo>
                <a:lnTo>
                  <a:pt x="6173052" y="2601942"/>
                </a:lnTo>
                <a:lnTo>
                  <a:pt x="0" y="260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91052">
            <a:off x="13048963" y="-5984494"/>
            <a:ext cx="11291757" cy="10164688"/>
          </a:xfrm>
          <a:custGeom>
            <a:avLst/>
            <a:gdLst/>
            <a:ahLst/>
            <a:cxnLst/>
            <a:rect r="r" b="b" t="t" l="l"/>
            <a:pathLst>
              <a:path h="10164688" w="11291757">
                <a:moveTo>
                  <a:pt x="0" y="0"/>
                </a:moveTo>
                <a:lnTo>
                  <a:pt x="11291757" y="0"/>
                </a:lnTo>
                <a:lnTo>
                  <a:pt x="11291757" y="10164687"/>
                </a:lnTo>
                <a:lnTo>
                  <a:pt x="0" y="10164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13547" y="4038286"/>
            <a:ext cx="5781294" cy="8229600"/>
          </a:xfrm>
          <a:custGeom>
            <a:avLst/>
            <a:gdLst/>
            <a:ahLst/>
            <a:cxnLst/>
            <a:rect r="r" b="b" t="t" l="l"/>
            <a:pathLst>
              <a:path h="8229600" w="5781294">
                <a:moveTo>
                  <a:pt x="0" y="0"/>
                </a:moveTo>
                <a:lnTo>
                  <a:pt x="5781294" y="0"/>
                </a:lnTo>
                <a:lnTo>
                  <a:pt x="57812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4173" y="-27325"/>
            <a:ext cx="13374691" cy="172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4"/>
              </a:lnSpc>
              <a:spcBef>
                <a:spcPct val="0"/>
              </a:spcBef>
            </a:pPr>
            <a:r>
              <a:rPr lang="en-US" sz="1000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CREATING &amp; STORING THE JOB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173" y="2076450"/>
            <a:ext cx="5679043" cy="4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JOB CONTAINS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consumer_id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job_type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payload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status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result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error_message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timestamps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173" y="7067550"/>
            <a:ext cx="11167085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IMPORTANT POINTS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Payload is stored as JSON.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RETURNING gets database-generated values.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PublicID is exposed to the client.</a:t>
            </a:r>
          </a:p>
          <a:p>
            <a:pPr algn="l" marL="971550" indent="-485775" lvl="1">
              <a:lnSpc>
                <a:spcPts val="4500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Internal ID stays hidden.</a:t>
            </a:r>
          </a:p>
        </p:txBody>
      </p:sp>
      <p:sp>
        <p:nvSpPr>
          <p:cNvPr name="Freeform 8" id="8" descr="Code image preview"/>
          <p:cNvSpPr/>
          <p:nvPr/>
        </p:nvSpPr>
        <p:spPr>
          <a:xfrm flipH="false" flipV="false" rot="0">
            <a:off x="6707340" y="4887053"/>
            <a:ext cx="9407133" cy="2104297"/>
          </a:xfrm>
          <a:custGeom>
            <a:avLst/>
            <a:gdLst/>
            <a:ahLst/>
            <a:cxnLst/>
            <a:rect r="r" b="b" t="t" l="l"/>
            <a:pathLst>
              <a:path h="2104297" w="9407133">
                <a:moveTo>
                  <a:pt x="0" y="0"/>
                </a:moveTo>
                <a:lnTo>
                  <a:pt x="9407133" y="0"/>
                </a:lnTo>
                <a:lnTo>
                  <a:pt x="9407133" y="2104297"/>
                </a:lnTo>
                <a:lnTo>
                  <a:pt x="0" y="2104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81" t="-189136" r="-3381" b="-18814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16" r="0" b="-8689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7864" y="-3114103"/>
            <a:ext cx="7800381" cy="6821864"/>
          </a:xfrm>
          <a:custGeom>
            <a:avLst/>
            <a:gdLst/>
            <a:ahLst/>
            <a:cxnLst/>
            <a:rect r="r" b="b" t="t" l="l"/>
            <a:pathLst>
              <a:path h="6821864" w="7800381">
                <a:moveTo>
                  <a:pt x="0" y="0"/>
                </a:moveTo>
                <a:lnTo>
                  <a:pt x="7800382" y="0"/>
                </a:lnTo>
                <a:lnTo>
                  <a:pt x="7800382" y="6821864"/>
                </a:lnTo>
                <a:lnTo>
                  <a:pt x="0" y="6821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617" y="449263"/>
            <a:ext cx="11898305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SAFE WORKER ACQUISITION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61481"/>
            <a:ext cx="12679164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SAFE WORKER ACQUISITION WITH POSTGRESQL LOCKING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Claim runs inside a transaction.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WHERE status = 'queued' selects waiting jobs.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ORDER BY created_at prioritizes older jobs.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FOR UPDATE locks the selected row.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SKIP LOCKED prevents other workers from blocking.</a:t>
            </a:r>
          </a:p>
        </p:txBody>
      </p:sp>
      <p:sp>
        <p:nvSpPr>
          <p:cNvPr name="Freeform 6" id="6" descr="Code image preview"/>
          <p:cNvSpPr/>
          <p:nvPr/>
        </p:nvSpPr>
        <p:spPr>
          <a:xfrm flipH="false" flipV="false" rot="0">
            <a:off x="5152707" y="7689058"/>
            <a:ext cx="7982586" cy="2597942"/>
          </a:xfrm>
          <a:custGeom>
            <a:avLst/>
            <a:gdLst/>
            <a:ahLst/>
            <a:cxnLst/>
            <a:rect r="r" b="b" t="t" l="l"/>
            <a:pathLst>
              <a:path h="2597942" w="7982586">
                <a:moveTo>
                  <a:pt x="0" y="0"/>
                </a:moveTo>
                <a:lnTo>
                  <a:pt x="7982586" y="0"/>
                </a:lnTo>
                <a:lnTo>
                  <a:pt x="7982586" y="2597942"/>
                </a:lnTo>
                <a:lnTo>
                  <a:pt x="0" y="2597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35" t="-112470" r="-3213" b="-11553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21155" y="6917533"/>
            <a:ext cx="1144569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PREVENTS TWO WORKERS FROM CLAIMING THE SAME JOB.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B60EB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25457">
            <a:off x="-1911821" y="9152427"/>
            <a:ext cx="9971383" cy="4202938"/>
          </a:xfrm>
          <a:custGeom>
            <a:avLst/>
            <a:gdLst/>
            <a:ahLst/>
            <a:cxnLst/>
            <a:rect r="r" b="b" t="t" l="l"/>
            <a:pathLst>
              <a:path h="4202938" w="9971383">
                <a:moveTo>
                  <a:pt x="0" y="0"/>
                </a:moveTo>
                <a:lnTo>
                  <a:pt x="9971384" y="0"/>
                </a:lnTo>
                <a:lnTo>
                  <a:pt x="9971384" y="4202938"/>
                </a:lnTo>
                <a:lnTo>
                  <a:pt x="0" y="420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818" y="449263"/>
            <a:ext cx="8940850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WORKER BEHAVIOR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3818" y="1703387"/>
            <a:ext cx="11928844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THE WORKER POLLS, WAITS &amp; CANCELS SAFELY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One worker runs independently from HTTP requests.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 goroutine runs the polling loop.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 ticker checks for new jobs periodically.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ctx.Done() allows the worker to stop.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Artificial delay runs in the worker, not POST.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Cancellation can interrupt the delay.</a:t>
            </a:r>
          </a:p>
        </p:txBody>
      </p:sp>
      <p:sp>
        <p:nvSpPr>
          <p:cNvPr name="Freeform 5" id="5" descr="Code image preview"/>
          <p:cNvSpPr/>
          <p:nvPr/>
        </p:nvSpPr>
        <p:spPr>
          <a:xfrm flipH="false" flipV="false" rot="0">
            <a:off x="5803925" y="7275512"/>
            <a:ext cx="7321486" cy="3011488"/>
          </a:xfrm>
          <a:custGeom>
            <a:avLst/>
            <a:gdLst/>
            <a:ahLst/>
            <a:cxnLst/>
            <a:rect r="r" b="b" t="t" l="l"/>
            <a:pathLst>
              <a:path h="3011488" w="7321486">
                <a:moveTo>
                  <a:pt x="0" y="0"/>
                </a:moveTo>
                <a:lnTo>
                  <a:pt x="7321487" y="0"/>
                </a:lnTo>
                <a:lnTo>
                  <a:pt x="7321487" y="3011488"/>
                </a:lnTo>
                <a:lnTo>
                  <a:pt x="0" y="3011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777" r="0" b="-7034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22274" y="1928192"/>
            <a:ext cx="2012136" cy="5347320"/>
          </a:xfrm>
          <a:custGeom>
            <a:avLst/>
            <a:gdLst/>
            <a:ahLst/>
            <a:cxnLst/>
            <a:rect r="r" b="b" t="t" l="l"/>
            <a:pathLst>
              <a:path h="5347320" w="2012136">
                <a:moveTo>
                  <a:pt x="0" y="0"/>
                </a:moveTo>
                <a:lnTo>
                  <a:pt x="2012136" y="0"/>
                </a:lnTo>
                <a:lnTo>
                  <a:pt x="2012136" y="5347320"/>
                </a:lnTo>
                <a:lnTo>
                  <a:pt x="0" y="534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04740" y="1156667"/>
            <a:ext cx="324720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WORKER 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1740" y="-4440594"/>
            <a:ext cx="8339294" cy="7136224"/>
          </a:xfrm>
          <a:custGeom>
            <a:avLst/>
            <a:gdLst/>
            <a:ahLst/>
            <a:cxnLst/>
            <a:rect r="r" b="b" t="t" l="l"/>
            <a:pathLst>
              <a:path h="7136224" w="8339294">
                <a:moveTo>
                  <a:pt x="0" y="0"/>
                </a:moveTo>
                <a:lnTo>
                  <a:pt x="8339295" y="0"/>
                </a:lnTo>
                <a:lnTo>
                  <a:pt x="8339295" y="7136224"/>
                </a:lnTo>
                <a:lnTo>
                  <a:pt x="0" y="7136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1545" y="60367"/>
            <a:ext cx="7510123" cy="172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4"/>
              </a:lnSpc>
              <a:spcBef>
                <a:spcPct val="0"/>
              </a:spcBef>
            </a:pPr>
            <a:r>
              <a:rPr lang="en-US" sz="1000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REPORT SQL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51303"/>
            <a:ext cx="11922492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CONSUMER ACTIVITY REPORT QUERY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LEFT JOIN keeps the consumer even without child records.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COUNT(DISTINCT ...) prevents inflated counts.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FILTER (WHERE ...) separates status counts.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Date range uses &gt;= start and &lt; end.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GROUP BY produces one result per consumer.</a:t>
            </a:r>
          </a:p>
        </p:txBody>
      </p:sp>
      <p:sp>
        <p:nvSpPr>
          <p:cNvPr name="Freeform 5" id="5" descr="Code image preview"/>
          <p:cNvSpPr/>
          <p:nvPr/>
        </p:nvSpPr>
        <p:spPr>
          <a:xfrm flipH="false" flipV="false" rot="0">
            <a:off x="5316509" y="7382477"/>
            <a:ext cx="7155560" cy="2904523"/>
          </a:xfrm>
          <a:custGeom>
            <a:avLst/>
            <a:gdLst/>
            <a:ahLst/>
            <a:cxnLst/>
            <a:rect r="r" b="b" t="t" l="l"/>
            <a:pathLst>
              <a:path h="2904523" w="7155560">
                <a:moveTo>
                  <a:pt x="0" y="0"/>
                </a:moveTo>
                <a:lnTo>
                  <a:pt x="7155560" y="0"/>
                </a:lnTo>
                <a:lnTo>
                  <a:pt x="7155560" y="2904523"/>
                </a:lnTo>
                <a:lnTo>
                  <a:pt x="0" y="2904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43" t="-72229" r="-5015" b="-9693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94657" y="2308453"/>
            <a:ext cx="5796864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OUTCOME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SUCCESS --&gt; MARKCOMPLETED()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 FAILURE --&gt; MARKFAILED()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1515" y="-3149182"/>
            <a:ext cx="6049393" cy="5290528"/>
          </a:xfrm>
          <a:custGeom>
            <a:avLst/>
            <a:gdLst/>
            <a:ahLst/>
            <a:cxnLst/>
            <a:rect r="r" b="b" t="t" l="l"/>
            <a:pathLst>
              <a:path h="5290528" w="6049393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4758" y="2337591"/>
            <a:ext cx="1513514" cy="7445087"/>
          </a:xfrm>
          <a:custGeom>
            <a:avLst/>
            <a:gdLst/>
            <a:ahLst/>
            <a:cxnLst/>
            <a:rect r="r" b="b" t="t" l="l"/>
            <a:pathLst>
              <a:path h="7445087" w="1513514">
                <a:moveTo>
                  <a:pt x="0" y="0"/>
                </a:moveTo>
                <a:lnTo>
                  <a:pt x="1513513" y="0"/>
                </a:lnTo>
                <a:lnTo>
                  <a:pt x="1513513" y="7445087"/>
                </a:lnTo>
                <a:lnTo>
                  <a:pt x="0" y="7445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0107" y="239482"/>
            <a:ext cx="10078769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GRACEFUL SHUTDOWN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41709" y="1566066"/>
            <a:ext cx="565961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CTRL+C SHUTDOWN SEQUENCE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0107" y="2251866"/>
            <a:ext cx="11627867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WHY?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srv.Shutdown() stops new HTTP work.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workerCancel() tells the worker to stop.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ctx.Done() causes the worker loop to exit.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wg.Wait() waits for the worker to finish.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Prevents a race during shutdown.</a:t>
            </a:r>
          </a:p>
        </p:txBody>
      </p:sp>
      <p:sp>
        <p:nvSpPr>
          <p:cNvPr name="Freeform 7" id="7" descr="Code image preview"/>
          <p:cNvSpPr/>
          <p:nvPr/>
        </p:nvSpPr>
        <p:spPr>
          <a:xfrm flipH="false" flipV="false" rot="0">
            <a:off x="4053396" y="7404891"/>
            <a:ext cx="6705480" cy="2551942"/>
          </a:xfrm>
          <a:custGeom>
            <a:avLst/>
            <a:gdLst/>
            <a:ahLst/>
            <a:cxnLst/>
            <a:rect r="r" b="b" t="t" l="l"/>
            <a:pathLst>
              <a:path h="2551942" w="6705480">
                <a:moveTo>
                  <a:pt x="0" y="0"/>
                </a:moveTo>
                <a:lnTo>
                  <a:pt x="6705480" y="0"/>
                </a:lnTo>
                <a:lnTo>
                  <a:pt x="6705480" y="2551942"/>
                </a:lnTo>
                <a:lnTo>
                  <a:pt x="0" y="2551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40" t="-96978" r="-5467" b="-9602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8257" y="2767130"/>
            <a:ext cx="7738851" cy="3675595"/>
          </a:xfrm>
          <a:custGeom>
            <a:avLst/>
            <a:gdLst/>
            <a:ahLst/>
            <a:cxnLst/>
            <a:rect r="r" b="b" t="t" l="l"/>
            <a:pathLst>
              <a:path h="3675595" w="7738851">
                <a:moveTo>
                  <a:pt x="0" y="0"/>
                </a:moveTo>
                <a:lnTo>
                  <a:pt x="7738850" y="0"/>
                </a:lnTo>
                <a:lnTo>
                  <a:pt x="7738850" y="3675595"/>
                </a:lnTo>
                <a:lnTo>
                  <a:pt x="0" y="367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2193" y="69850"/>
            <a:ext cx="13241244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MEASUREMENT &amp; INTERPRETATION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68212" y="1995605"/>
            <a:ext cx="875893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WHY ACKNOWLEDGEMENT AND COMPLETION DIFFER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2193" y="1995605"/>
            <a:ext cx="8531807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EXPERIMENT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Run with reportDelay: 0s, 3s, 7s, 12s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Measure acknowledgement time.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Measure completion time.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Compare the results.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5429" y="6033941"/>
            <a:ext cx="11087966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EXPECTED RESULT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Acknowledgement stays relatively fast.</a:t>
            </a:r>
          </a:p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Completion time increases with reportDelay.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2193" y="8472078"/>
            <a:ext cx="1101120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KEY TAKEAWAY</a:t>
            </a:r>
          </a:p>
          <a:p>
            <a:pPr algn="l" marL="971550" indent="-485775" lvl="1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Fast acceptance + slow background execution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63808" y="3233724"/>
            <a:ext cx="2157465" cy="1846218"/>
          </a:xfrm>
          <a:custGeom>
            <a:avLst/>
            <a:gdLst/>
            <a:ahLst/>
            <a:cxnLst/>
            <a:rect r="r" b="b" t="t" l="l"/>
            <a:pathLst>
              <a:path h="1846218" w="2157465">
                <a:moveTo>
                  <a:pt x="0" y="0"/>
                </a:moveTo>
                <a:lnTo>
                  <a:pt x="2157464" y="0"/>
                </a:lnTo>
                <a:lnTo>
                  <a:pt x="2157464" y="1846218"/>
                </a:lnTo>
                <a:lnTo>
                  <a:pt x="0" y="184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96192" y="7376900"/>
            <a:ext cx="1667423" cy="1661511"/>
          </a:xfrm>
          <a:custGeom>
            <a:avLst/>
            <a:gdLst/>
            <a:ahLst/>
            <a:cxnLst/>
            <a:rect r="r" b="b" t="t" l="l"/>
            <a:pathLst>
              <a:path h="1661511" w="1667423">
                <a:moveTo>
                  <a:pt x="0" y="0"/>
                </a:moveTo>
                <a:lnTo>
                  <a:pt x="1667424" y="0"/>
                </a:lnTo>
                <a:lnTo>
                  <a:pt x="1667424" y="1661510"/>
                </a:lnTo>
                <a:lnTo>
                  <a:pt x="0" y="1661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71448" y="3347129"/>
            <a:ext cx="2392360" cy="1915451"/>
          </a:xfrm>
          <a:custGeom>
            <a:avLst/>
            <a:gdLst/>
            <a:ahLst/>
            <a:cxnLst/>
            <a:rect r="r" b="b" t="t" l="l"/>
            <a:pathLst>
              <a:path h="1915451" w="2392360">
                <a:moveTo>
                  <a:pt x="0" y="0"/>
                </a:moveTo>
                <a:lnTo>
                  <a:pt x="2392360" y="0"/>
                </a:lnTo>
                <a:lnTo>
                  <a:pt x="2392360" y="1915451"/>
                </a:lnTo>
                <a:lnTo>
                  <a:pt x="0" y="1915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92945" y="5521668"/>
            <a:ext cx="2285731" cy="1998998"/>
          </a:xfrm>
          <a:custGeom>
            <a:avLst/>
            <a:gdLst/>
            <a:ahLst/>
            <a:cxnLst/>
            <a:rect r="r" b="b" t="t" l="l"/>
            <a:pathLst>
              <a:path h="1998998" w="2285731">
                <a:moveTo>
                  <a:pt x="0" y="0"/>
                </a:moveTo>
                <a:lnTo>
                  <a:pt x="2285730" y="0"/>
                </a:lnTo>
                <a:lnTo>
                  <a:pt x="2285730" y="1998997"/>
                </a:lnTo>
                <a:lnTo>
                  <a:pt x="0" y="1998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26774" y="5565602"/>
            <a:ext cx="2300144" cy="1004581"/>
          </a:xfrm>
          <a:custGeom>
            <a:avLst/>
            <a:gdLst/>
            <a:ahLst/>
            <a:cxnLst/>
            <a:rect r="r" b="b" t="t" l="l"/>
            <a:pathLst>
              <a:path h="1004581" w="2300144">
                <a:moveTo>
                  <a:pt x="0" y="0"/>
                </a:moveTo>
                <a:lnTo>
                  <a:pt x="2300144" y="0"/>
                </a:lnTo>
                <a:lnTo>
                  <a:pt x="2300144" y="1004581"/>
                </a:lnTo>
                <a:lnTo>
                  <a:pt x="0" y="100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52766" y="3462525"/>
            <a:ext cx="1627955" cy="1312867"/>
          </a:xfrm>
          <a:custGeom>
            <a:avLst/>
            <a:gdLst/>
            <a:ahLst/>
            <a:cxnLst/>
            <a:rect r="r" b="b" t="t" l="l"/>
            <a:pathLst>
              <a:path h="1312867" w="1627955">
                <a:moveTo>
                  <a:pt x="0" y="0"/>
                </a:moveTo>
                <a:lnTo>
                  <a:pt x="1627955" y="0"/>
                </a:lnTo>
                <a:lnTo>
                  <a:pt x="1627955" y="1312867"/>
                </a:lnTo>
                <a:lnTo>
                  <a:pt x="0" y="13128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12062" y="5617881"/>
            <a:ext cx="1556307" cy="1351671"/>
          </a:xfrm>
          <a:custGeom>
            <a:avLst/>
            <a:gdLst/>
            <a:ahLst/>
            <a:cxnLst/>
            <a:rect r="r" b="b" t="t" l="l"/>
            <a:pathLst>
              <a:path h="1351671" w="1556307">
                <a:moveTo>
                  <a:pt x="0" y="0"/>
                </a:moveTo>
                <a:lnTo>
                  <a:pt x="1556307" y="0"/>
                </a:lnTo>
                <a:lnTo>
                  <a:pt x="1556307" y="1351671"/>
                </a:lnTo>
                <a:lnTo>
                  <a:pt x="0" y="13516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65985" y="1400328"/>
            <a:ext cx="8556030" cy="139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91"/>
              </a:lnSpc>
              <a:spcBef>
                <a:spcPct val="0"/>
              </a:spcBef>
            </a:pPr>
            <a:r>
              <a:rPr lang="en-US" sz="13044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61082" y="5782034"/>
            <a:ext cx="1216746" cy="1023366"/>
          </a:xfrm>
          <a:custGeom>
            <a:avLst/>
            <a:gdLst/>
            <a:ahLst/>
            <a:cxnLst/>
            <a:rect r="r" b="b" t="t" l="l"/>
            <a:pathLst>
              <a:path h="1023366" w="1216746">
                <a:moveTo>
                  <a:pt x="0" y="0"/>
                </a:moveTo>
                <a:lnTo>
                  <a:pt x="1216746" y="0"/>
                </a:lnTo>
                <a:lnTo>
                  <a:pt x="1216746" y="1023366"/>
                </a:lnTo>
                <a:lnTo>
                  <a:pt x="0" y="10233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62707" y="3528624"/>
            <a:ext cx="715121" cy="1620119"/>
          </a:xfrm>
          <a:custGeom>
            <a:avLst/>
            <a:gdLst/>
            <a:ahLst/>
            <a:cxnLst/>
            <a:rect r="r" b="b" t="t" l="l"/>
            <a:pathLst>
              <a:path h="1620119" w="715121">
                <a:moveTo>
                  <a:pt x="0" y="0"/>
                </a:moveTo>
                <a:lnTo>
                  <a:pt x="715121" y="0"/>
                </a:lnTo>
                <a:lnTo>
                  <a:pt x="715121" y="1620119"/>
                </a:lnTo>
                <a:lnTo>
                  <a:pt x="0" y="1620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92963" y="7470413"/>
            <a:ext cx="1485607" cy="1627491"/>
          </a:xfrm>
          <a:custGeom>
            <a:avLst/>
            <a:gdLst/>
            <a:ahLst/>
            <a:cxnLst/>
            <a:rect r="r" b="b" t="t" l="l"/>
            <a:pathLst>
              <a:path h="1627491" w="1485607">
                <a:moveTo>
                  <a:pt x="0" y="0"/>
                </a:moveTo>
                <a:lnTo>
                  <a:pt x="1485607" y="0"/>
                </a:lnTo>
                <a:lnTo>
                  <a:pt x="1485607" y="1627491"/>
                </a:lnTo>
                <a:lnTo>
                  <a:pt x="0" y="1627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13852" y="7394256"/>
            <a:ext cx="1421342" cy="1627491"/>
          </a:xfrm>
          <a:custGeom>
            <a:avLst/>
            <a:gdLst/>
            <a:ahLst/>
            <a:cxnLst/>
            <a:rect r="r" b="b" t="t" l="l"/>
            <a:pathLst>
              <a:path h="1627491" w="1421342">
                <a:moveTo>
                  <a:pt x="0" y="0"/>
                </a:moveTo>
                <a:lnTo>
                  <a:pt x="1421342" y="0"/>
                </a:lnTo>
                <a:lnTo>
                  <a:pt x="1421342" y="1627491"/>
                </a:lnTo>
                <a:lnTo>
                  <a:pt x="0" y="16274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54647" y="3486856"/>
            <a:ext cx="2472271" cy="1203605"/>
          </a:xfrm>
          <a:custGeom>
            <a:avLst/>
            <a:gdLst/>
            <a:ahLst/>
            <a:cxnLst/>
            <a:rect r="r" b="b" t="t" l="l"/>
            <a:pathLst>
              <a:path h="1203605" w="2472271">
                <a:moveTo>
                  <a:pt x="0" y="0"/>
                </a:moveTo>
                <a:lnTo>
                  <a:pt x="2472271" y="0"/>
                </a:lnTo>
                <a:lnTo>
                  <a:pt x="2472271" y="1203606"/>
                </a:lnTo>
                <a:lnTo>
                  <a:pt x="0" y="12036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97032" y="5469348"/>
            <a:ext cx="891016" cy="2051317"/>
          </a:xfrm>
          <a:custGeom>
            <a:avLst/>
            <a:gdLst/>
            <a:ahLst/>
            <a:cxnLst/>
            <a:rect r="r" b="b" t="t" l="l"/>
            <a:pathLst>
              <a:path h="2051317" w="891016">
                <a:moveTo>
                  <a:pt x="0" y="0"/>
                </a:moveTo>
                <a:lnTo>
                  <a:pt x="891016" y="0"/>
                </a:lnTo>
                <a:lnTo>
                  <a:pt x="891016" y="2051317"/>
                </a:lnTo>
                <a:lnTo>
                  <a:pt x="0" y="20513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95136" y="7630809"/>
            <a:ext cx="2032703" cy="1627491"/>
          </a:xfrm>
          <a:custGeom>
            <a:avLst/>
            <a:gdLst/>
            <a:ahLst/>
            <a:cxnLst/>
            <a:rect r="r" b="b" t="t" l="l"/>
            <a:pathLst>
              <a:path h="1627491" w="2032703">
                <a:moveTo>
                  <a:pt x="0" y="0"/>
                </a:moveTo>
                <a:lnTo>
                  <a:pt x="2032703" y="0"/>
                </a:lnTo>
                <a:lnTo>
                  <a:pt x="2032703" y="1627491"/>
                </a:lnTo>
                <a:lnTo>
                  <a:pt x="0" y="16274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497032" y="7911190"/>
            <a:ext cx="1276663" cy="1343355"/>
          </a:xfrm>
          <a:custGeom>
            <a:avLst/>
            <a:gdLst/>
            <a:ahLst/>
            <a:cxnLst/>
            <a:rect r="r" b="b" t="t" l="l"/>
            <a:pathLst>
              <a:path h="1343355" w="1276663">
                <a:moveTo>
                  <a:pt x="0" y="0"/>
                </a:moveTo>
                <a:lnTo>
                  <a:pt x="1276663" y="0"/>
                </a:lnTo>
                <a:lnTo>
                  <a:pt x="1276663" y="1343355"/>
                </a:lnTo>
                <a:lnTo>
                  <a:pt x="0" y="13433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DAGm6Z1lMFs</dc:identifier>
  <dcterms:modified xsi:type="dcterms:W3CDTF">2011-08-01T06:04:30Z</dcterms:modified>
  <cp:revision>1</cp:revision>
  <dc:title>Blue Futuristic Illustrative Artificial Intelligence Project Presentation</dc:title>
</cp:coreProperties>
</file>